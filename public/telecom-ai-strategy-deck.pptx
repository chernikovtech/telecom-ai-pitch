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943600" cy="5029200"/>
          </a:xfrm>
          <a:prstGeom prst="ellipse">
            <a:avLst/>
          </a:prstGeom>
          <a:solidFill>
            <a:srgbClr val="FF1A1A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TELECOM × AI 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FROM CONNECTIVITY</a:t>
            </a:r>
            <a:endParaRPr lang="en-US" sz="5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TO AI DISTRIBUTION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How telecoms become the primary distributors of AI inference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in their markets — and why those that don't will be disintermediated.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6035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0" y="6035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APRIL 2026</a:t>
            </a:r>
            <a:endParaRPr lang="en-US" sz="900" dirty="0"/>
          </a:p>
        </p:txBody>
      </p:sp>
      <p:pic>
        <p:nvPicPr>
          <p:cNvPr id="8" name="Image 0" descr="/home/claude/yang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5615" y="640080"/>
            <a:ext cx="2286000" cy="3931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THE THESIS IN ONE SLIDE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560320"/>
            <a:ext cx="10911535" cy="3931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SITUATION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" y="31089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Telecom connectivity is commoditized. Revenue grew 1% while data traffic grew 60% (2010–2023). AI inference is emerging as the next utility layer — consumed via tokens, not subscriptions.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STRATEGIC CHOICE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0" y="31089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Telecoms must choose: become thin AI resellers (low margin, no moat) or build AI inference infrastructure (own the GPUs, sell tokens, control margins). The tower ownership analogy applies directly.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0392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RECOMMENDED ACTION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503920" y="31089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Partner with Yango Tech to launch AI use cases (revenue in 90 days), build inference infrastructure (long-term margin), and operate an AI distribution platform (B2B + B2C, 20–30% take rate).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5120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$700B+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5577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AI CAPEX 2026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749040" y="5120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60–70%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49040" y="5577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INFERENCE BY 2030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92240" y="5120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1%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92240" y="5577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TELECOM GROWTH '10–'23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235440" y="5120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$100B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235440" y="5577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RADIO CAPEX/YR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14400"/>
            <a:ext cx="10058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01</a:t>
            </a:r>
            <a:endParaRPr lang="en-US" sz="6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THE CONTEXT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Why telecom connectivity is no longer enough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CONNECTIVITY IS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COMMODITIZED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Global mobile data traffic grew 60% per year from 2010 to 2023.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Telecom revenues grew just 1% in the same period. Voice and data are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utilities — undifferentiated, price-compressed, margin-thin.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0" y="2560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DATA TRAFFIC GROWTH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0" y="2834640"/>
            <a:ext cx="4114800" cy="164592"/>
          </a:xfrm>
          <a:prstGeom prst="rect">
            <a:avLst/>
          </a:prstGeom>
          <a:solidFill>
            <a:srgbClr val="EAECEC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2834640"/>
            <a:ext cx="3497580" cy="164592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0" y="2560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60%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0" y="3566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TELECOM REVENUE GROWTH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0" y="3840480"/>
            <a:ext cx="4114800" cy="164592"/>
          </a:xfrm>
          <a:prstGeom prst="rect">
            <a:avLst/>
          </a:prstGeom>
          <a:solidFill>
            <a:srgbClr val="EAECEC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3840480"/>
            <a:ext cx="164592" cy="164592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0" y="3566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1%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0" y="4572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EBIT IMPACT FROM AI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0" y="4846320"/>
            <a:ext cx="4114800" cy="164592"/>
          </a:xfrm>
          <a:prstGeom prst="rect">
            <a:avLst/>
          </a:prstGeom>
          <a:solidFill>
            <a:srgbClr val="EAECEC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0" y="4846320"/>
            <a:ext cx="205740" cy="164592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0" y="45720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&lt;5%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58000" y="5577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AI PILOTS AT SCALE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58000" y="5852160"/>
            <a:ext cx="4114800" cy="164592"/>
          </a:xfrm>
          <a:prstGeom prst="rect">
            <a:avLst/>
          </a:prstGeom>
          <a:solidFill>
            <a:srgbClr val="EAECEC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0" y="5852160"/>
            <a:ext cx="288036" cy="164592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0" y="55778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7%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0080" y="6035040"/>
            <a:ext cx="10911535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6126480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ango Text Medium" pitchFamily="34" charset="0"/>
                <a:ea typeface="Yango Text Medium" pitchFamily="34" charset="-122"/>
                <a:cs typeface="Yango Text Medium" pitchFamily="34" charset="-120"/>
              </a:rPr>
              <a:t>KEY TAKEAWAY:  Telecoms captured none of the value from the mobile data explosion. The same risk exists with AI.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Source: McKinsey Telco CxO Survey, December 2025 (49 operators globally)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THE SHIFT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AI IS THE NEXT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UTILITY LAYER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Just as electricity required power plants and the internet required data centers,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AI requires inference infrastructure. It is consumed via tokens and APIs —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not as a product, but as a utility. Most companies will never build foundation models.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They will buy inference. The question is: who distributes it?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4114800"/>
            <a:ext cx="3520440" cy="2377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4114800"/>
            <a:ext cx="64008" cy="237744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4297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DISTRIBUTION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47091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Telecoms own the pipe to every business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and consumer. No hyperscaler can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replicate local distribution at this scale.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4114800"/>
            <a:ext cx="3520440" cy="2377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343400" y="4114800"/>
            <a:ext cx="64008" cy="237744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4297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BILLING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63440" y="47091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Existing billing relationships (including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mobile money) mean AI can be bundled,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metered, and charged seamlessly.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4114800"/>
            <a:ext cx="3520440" cy="2377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0" y="4114800"/>
            <a:ext cx="64008" cy="237744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4297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DATA SOVEREIGNTY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66760" y="47091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Governments want AI processed locally.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Telecoms are the natural partners for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sovereign cloud and local inference.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14400"/>
            <a:ext cx="10058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02</a:t>
            </a:r>
            <a:endParaRPr lang="en-US" sz="6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THE STRATEGIC</a:t>
            </a:r>
            <a:endParaRPr lang="en-US" sz="6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CHOICE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Reseller economics vs. infrastructure ownership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THE CRITICAL FORK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TWO PATHS. ONE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WINNING STRATEGY.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5212080" cy="3657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743200"/>
            <a:ext cx="5212080" cy="3657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OPTION 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" y="32004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66666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THIN AI RESELLER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38404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Resell AI from external providers (OpenAI, Google)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No infrastructure ownership or control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Commodity margins — identical to MVNO economics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Zero switching cost for your customers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No data sovereignty advantage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Dependent on hyperscaler pricing decisions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2743200"/>
            <a:ext cx="5212080" cy="3657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743200"/>
            <a:ext cx="521208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OPTION B — RECOMMENDED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766560" y="32004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AI INFRA OWNER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766560" y="38404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Build or co-own AI inference data centers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Run models locally — control latency, cost, and data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Sell AI tokens directly to enterprises and consumers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Higher margins, recurring revenue, platform lock-in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Full data sovereignty and regulatory alignment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Compounding advantage: more usage → lower unit cost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THE ANALOGY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BUILD THE TOWERS.</a:t>
            </a:r>
            <a:endParaRPr lang="en-US" sz="4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DON'T RENT THEM.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Telecoms learned this once with cell towers. Those who owned infrastructure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controlled margins. Those who leased became MVNOs. The same fork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is now playing out with AI compute.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566160"/>
          <a:ext cx="10911535" cy="2743200"/>
        </p:xfrm>
        <a:graphic>
          <a:graphicData uri="http://schemas.openxmlformats.org/drawingml/2006/table">
            <a:tbl>
              <a:tblPr/>
              <a:tblGrid>
                <a:gridCol w="5455768"/>
                <a:gridCol w="5455768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66666"/>
                          </a:solidFill>
                          <a:latin typeface="Yango Text" pitchFamily="34" charset="0"/>
                          <a:ea typeface="Yango Text" pitchFamily="34" charset="-122"/>
                          <a:cs typeface="Yango Text" pitchFamily="34" charset="-120"/>
                        </a:rPr>
                        <a:t>TELECOM MODEL</a:t>
                      </a:r>
                      <a:endParaRPr lang="en-US" sz="1000" dirty="0">
                        <a:latin typeface="Yango Text" charset="0"/>
                        <a:ea typeface="Yango Text" charset="0"/>
                        <a:cs typeface="Yango T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66666"/>
                          </a:solidFill>
                          <a:latin typeface="Yango Text" pitchFamily="34" charset="0"/>
                          <a:ea typeface="Yango Text" pitchFamily="34" charset="-122"/>
                          <a:cs typeface="Yango Text" pitchFamily="34" charset="-120"/>
                        </a:rPr>
                        <a:t>AI EQUIVALENT</a:t>
                      </a:r>
                      <a:endParaRPr lang="en-US" sz="1000" dirty="0">
                        <a:latin typeface="Yango Text" charset="0"/>
                        <a:ea typeface="Yango Text" charset="0"/>
                        <a:cs typeface="Yango T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Yango Text" pitchFamily="34" charset="0"/>
                          <a:ea typeface="Yango Text" pitchFamily="34" charset="-122"/>
                          <a:cs typeface="Yango Text" pitchFamily="34" charset="-120"/>
                        </a:rPr>
                        <a:t>Renting towers from towercos</a:t>
                      </a:r>
                      <a:endParaRPr lang="en-US" sz="1400" dirty="0">
                        <a:latin typeface="Yango Text" charset="0"/>
                        <a:ea typeface="Yango Text" charset="0"/>
                        <a:cs typeface="Yango T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Yango Text" pitchFamily="34" charset="0"/>
                          <a:ea typeface="Yango Text" pitchFamily="34" charset="-122"/>
                          <a:cs typeface="Yango Text" pitchFamily="34" charset="-120"/>
                        </a:rPr>
                        <a:t>Reselling external AI APIs</a:t>
                      </a:r>
                      <a:endParaRPr lang="en-US" sz="1400" dirty="0">
                        <a:latin typeface="Yango Text" charset="0"/>
                        <a:ea typeface="Yango Text" charset="0"/>
                        <a:cs typeface="Yango T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Yango Text" pitchFamily="34" charset="0"/>
                          <a:ea typeface="Yango Text" pitchFamily="34" charset="-122"/>
                          <a:cs typeface="Yango Text" pitchFamily="34" charset="-120"/>
                        </a:rPr>
                        <a:t>Owning network infrastructure</a:t>
                      </a:r>
                      <a:endParaRPr lang="en-US" sz="1400" dirty="0">
                        <a:latin typeface="Yango Text" charset="0"/>
                        <a:ea typeface="Yango Text" charset="0"/>
                        <a:cs typeface="Yango T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ango Text" pitchFamily="34" charset="0"/>
                          <a:ea typeface="Yango Text" pitchFamily="34" charset="-122"/>
                          <a:cs typeface="Yango Text" pitchFamily="34" charset="-120"/>
                        </a:rPr>
                        <a:t>Owning AI inference data centers</a:t>
                      </a:r>
                      <a:endParaRPr lang="en-US" sz="1400" dirty="0">
                        <a:latin typeface="Yango Text" charset="0"/>
                        <a:ea typeface="Yango Text" charset="0"/>
                        <a:cs typeface="Yango T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Yango Text" pitchFamily="34" charset="0"/>
                          <a:ea typeface="Yango Text" pitchFamily="34" charset="-122"/>
                          <a:cs typeface="Yango Text" pitchFamily="34" charset="-120"/>
                        </a:rPr>
                        <a:t>Low-margin MVNO</a:t>
                      </a:r>
                      <a:endParaRPr lang="en-US" sz="1400" dirty="0">
                        <a:latin typeface="Yango Text" charset="0"/>
                        <a:ea typeface="Yango Text" charset="0"/>
                        <a:cs typeface="Yango T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Yango Text" pitchFamily="34" charset="0"/>
                          <a:ea typeface="Yango Text" pitchFamily="34" charset="-122"/>
                          <a:cs typeface="Yango Text" pitchFamily="34" charset="-120"/>
                        </a:rPr>
                        <a:t>Thin AI reseller — no moat</a:t>
                      </a:r>
                      <a:endParaRPr lang="en-US" sz="1400" dirty="0">
                        <a:latin typeface="Yango Text" charset="0"/>
                        <a:ea typeface="Yango Text" charset="0"/>
                        <a:cs typeface="Yango T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Yango Text" pitchFamily="34" charset="0"/>
                          <a:ea typeface="Yango Text" pitchFamily="34" charset="-122"/>
                          <a:cs typeface="Yango Text" pitchFamily="34" charset="-120"/>
                        </a:rPr>
                        <a:t>Full network operator (MNO)</a:t>
                      </a:r>
                      <a:endParaRPr lang="en-US" sz="1400" dirty="0">
                        <a:latin typeface="Yango Text" charset="0"/>
                        <a:ea typeface="Yango Text" charset="0"/>
                        <a:cs typeface="Yango T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ango Text" pitchFamily="34" charset="0"/>
                          <a:ea typeface="Yango Text" pitchFamily="34" charset="-122"/>
                          <a:cs typeface="Yango Text" pitchFamily="34" charset="-120"/>
                        </a:rPr>
                        <a:t>AI infrastructure + platform owner</a:t>
                      </a:r>
                      <a:endParaRPr lang="en-US" sz="1400" dirty="0">
                        <a:latin typeface="Yango Text" charset="0"/>
                        <a:ea typeface="Yango Text" charset="0"/>
                        <a:cs typeface="Yango T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Yango Text" pitchFamily="34" charset="0"/>
                          <a:ea typeface="Yango Text" pitchFamily="34" charset="-122"/>
                          <a:cs typeface="Yango Text" pitchFamily="34" charset="-120"/>
                        </a:rPr>
                        <a:t>Selling minutes and data</a:t>
                      </a:r>
                      <a:endParaRPr lang="en-US" sz="1400" dirty="0">
                        <a:latin typeface="Yango Text" charset="0"/>
                        <a:ea typeface="Yango Text" charset="0"/>
                        <a:cs typeface="Yango T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ango Text" pitchFamily="34" charset="0"/>
                          <a:ea typeface="Yango Text" pitchFamily="34" charset="-122"/>
                          <a:cs typeface="Yango Text" pitchFamily="34" charset="-120"/>
                        </a:rPr>
                        <a:t>Selling AI tokens and inference</a:t>
                      </a:r>
                      <a:endParaRPr lang="en-US" sz="1400" dirty="0">
                        <a:latin typeface="Yango Text" charset="0"/>
                        <a:ea typeface="Yango Text" charset="0"/>
                        <a:cs typeface="Yango T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dirty="0">
                <a:solidFill>
                  <a:srgbClr val="FF1A1A">
                    <a:alpha val="30000"/>
                  </a:srgbClr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"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371600" y="1371600"/>
            <a:ext cx="9418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A hundred billion dollars of the world's capital investments each year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is in radio networks. In the future, that's going to be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accelerated computing infused with AI.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JENSEN HUANG  ·  CEO, NVIDIA  ·  GTC 2025 KEYNOTE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14400"/>
            <a:ext cx="10058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03</a:t>
            </a:r>
            <a:endParaRPr lang="en-US" sz="6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OUR SOLUTION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Yango Tech as your end-to-end AI transformation partner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YANGO TECH — 3-LAYER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FROM USE CASES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TO INFRASTRUCTURE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We provide the full stack — from revenue-generating AI services on day one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to the inference infrastructure that compounds your advantage over time.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10911535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3657600"/>
            <a:ext cx="64008" cy="86868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749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LAYER A — REVENUE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4023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AI Use Cases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0" y="3931920"/>
            <a:ext cx="1783080" cy="38404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0" y="39319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Call center AI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89320" y="3931920"/>
            <a:ext cx="1783080" cy="38404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5989320" y="39319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AI assistants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863840" y="3931920"/>
            <a:ext cx="1783080" cy="38404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0" y="39319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SMB AI tools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738360" y="3931920"/>
            <a:ext cx="1783080" cy="38404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Text 14"/>
          <p:cNvSpPr/>
          <p:nvPr/>
        </p:nvSpPr>
        <p:spPr>
          <a:xfrm>
            <a:off x="9738360" y="39319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GovTech AI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1612880" y="3931920"/>
            <a:ext cx="1783080" cy="38404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11612880" y="39319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Healthcare AI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3487400" y="3931920"/>
            <a:ext cx="1783080" cy="38404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Text 18"/>
          <p:cNvSpPr/>
          <p:nvPr/>
        </p:nvSpPr>
        <p:spPr>
          <a:xfrm>
            <a:off x="13487400" y="39319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Logistics AI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4709160"/>
            <a:ext cx="10911535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4709160"/>
            <a:ext cx="64008" cy="86868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4800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LAYER B — INFRASTRUCTURE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60120" y="5074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AI Inference Supply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114800" y="4983480"/>
            <a:ext cx="1783080" cy="38404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0" y="49834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External inference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89320" y="4983480"/>
            <a:ext cx="1783080" cy="38404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8" name="Text 26"/>
          <p:cNvSpPr/>
          <p:nvPr/>
        </p:nvSpPr>
        <p:spPr>
          <a:xfrm>
            <a:off x="5989320" y="49834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Own data center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863840" y="4983480"/>
            <a:ext cx="1783080" cy="38404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0" name="Text 28"/>
          <p:cNvSpPr/>
          <p:nvPr/>
        </p:nvSpPr>
        <p:spPr>
          <a:xfrm>
            <a:off x="7863840" y="49834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GPU-as-a-Service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738360" y="4983480"/>
            <a:ext cx="1783080" cy="38404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2" name="Text 30"/>
          <p:cNvSpPr/>
          <p:nvPr/>
        </p:nvSpPr>
        <p:spPr>
          <a:xfrm>
            <a:off x="9738360" y="49834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Edge compute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" y="5760720"/>
            <a:ext cx="10911535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640080" y="5760720"/>
            <a:ext cx="64008" cy="86868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35" name="Text 33"/>
          <p:cNvSpPr/>
          <p:nvPr/>
        </p:nvSpPr>
        <p:spPr>
          <a:xfrm>
            <a:off x="960120" y="5852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LAYER C — PLATFORM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60120" y="6126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AI Platform Layer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114800" y="6035040"/>
            <a:ext cx="1783080" cy="38404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0" y="603504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AI marketplace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989320" y="6035040"/>
            <a:ext cx="1783080" cy="38404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0" name="Text 38"/>
          <p:cNvSpPr/>
          <p:nvPr/>
        </p:nvSpPr>
        <p:spPr>
          <a:xfrm>
            <a:off x="5989320" y="603504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Usage billing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863840" y="6035040"/>
            <a:ext cx="1783080" cy="38404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2" name="Text 40"/>
          <p:cNvSpPr/>
          <p:nvPr/>
        </p:nvSpPr>
        <p:spPr>
          <a:xfrm>
            <a:off x="7863840" y="603504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Workload orchestration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738360" y="6035040"/>
            <a:ext cx="1783080" cy="38404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4" name="Text 42"/>
          <p:cNvSpPr/>
          <p:nvPr/>
        </p:nvSpPr>
        <p:spPr>
          <a:xfrm>
            <a:off x="9738360" y="603504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Partner ecosystem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14400"/>
            <a:ext cx="10058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04</a:t>
            </a:r>
            <a:endParaRPr lang="en-US" sz="6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AI USE CASES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Revenue-generating applications deployed in 90 days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USE CASE PORTFOLIO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SIX READY-TO-DEPLOY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AI SERVICES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3520440" cy="182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>
                    <a:alpha val="12000"/>
                  </a:srgbClr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AI CONTACT CENTER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70%+ query deflection. Voice + chat in 30+ languages. 62% handle time reduction. White-label.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2651760"/>
            <a:ext cx="3520440" cy="182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2743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>
                    <a:alpha val="12000"/>
                  </a:srgbClr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17720" y="3108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ENTERPRISE AI ASSISTANT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17720" y="3520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$xx/user/month. Doc analysis, code gen, data queries. Full tenant isolation. High gross margin.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2651760"/>
            <a:ext cx="3520440" cy="182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2743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>
                    <a:alpha val="12000"/>
                  </a:srgbClr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21040" y="3108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SMB PRODUCTIVITY SUITE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21040" y="3520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Bookkeeping, marketing, support bots bundled with connectivity. +15–30% ARPU uplift.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663440"/>
            <a:ext cx="3520440" cy="182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>
                    <a:alpha val="12000"/>
                  </a:srgbClr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" y="5120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SOVEREIGN GOV AI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55321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On-premise doc processing, citizen services, compliance. 14+ ministries per market.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43400" y="4663440"/>
            <a:ext cx="3520440" cy="182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61772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>
                    <a:alpha val="12000"/>
                  </a:srgbClr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617720" y="5120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HEALTHCARE AI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17720" y="55321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Diagnostic support, scheduling, medical records via telecom health partnerships.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46720" y="4663440"/>
            <a:ext cx="3520440" cy="182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832104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>
                    <a:alpha val="12000"/>
                  </a:srgbClr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321040" y="5120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LOGISTICS &amp; FLEET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21040" y="55321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Route optimization, demand forecasting, fleet management via enterprise sales.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USE CASE 01 — DEEP DIVE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AI CONTACT CENTER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Your enterprise customers replace or augment their call centers with AI agents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that handle voice and chat in 30+ languages. They pay monthly — you keep strong margin.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64008" cy="50292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657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70%+ query deflection rate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9136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AI resolves most inbound queries without human intervention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4343400"/>
            <a:ext cx="64008" cy="50292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343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62% reduction in handle time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5994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Faster resolution = lower cost per interaction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5029200"/>
            <a:ext cx="64008" cy="50292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5029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Billed through existing B2B invoicing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52852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Add a line item to the enterprise contract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5715000"/>
            <a:ext cx="64008" cy="50292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7150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White-label for your brand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5971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Your logo, your domain — customers see your brand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0" y="2560320"/>
            <a:ext cx="5120640" cy="411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2743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LIVE DASHBOARD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75120" y="32004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2,847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75120" y="3566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CONVERSATIONS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7863840" y="32004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73%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863840" y="3566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AI RESOLVED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9052560" y="32004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4.6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052560" y="3566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CSAT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241280" y="32004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$0.12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241280" y="3566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COST/CALL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675120" y="4480560"/>
            <a:ext cx="475488" cy="146304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0" y="4480560"/>
            <a:ext cx="475488" cy="1463040"/>
          </a:xfrm>
          <a:prstGeom prst="rect">
            <a:avLst/>
          </a:prstGeom>
          <a:solidFill>
            <a:srgbClr val="FF1A1A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333488" y="4937760"/>
            <a:ext cx="475488" cy="100584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30" name="Shape 28"/>
          <p:cNvSpPr/>
          <p:nvPr/>
        </p:nvSpPr>
        <p:spPr>
          <a:xfrm>
            <a:off x="7333488" y="4937760"/>
            <a:ext cx="475488" cy="1005840"/>
          </a:xfrm>
          <a:prstGeom prst="rect">
            <a:avLst/>
          </a:prstGeom>
          <a:solidFill>
            <a:srgbClr val="FF1A1A">
              <a:alpha val="7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991856" y="5303520"/>
            <a:ext cx="475488" cy="64008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32" name="Shape 30"/>
          <p:cNvSpPr/>
          <p:nvPr/>
        </p:nvSpPr>
        <p:spPr>
          <a:xfrm>
            <a:off x="7991856" y="5303520"/>
            <a:ext cx="475488" cy="640080"/>
          </a:xfrm>
          <a:prstGeom prst="rect">
            <a:avLst/>
          </a:prstGeom>
          <a:solidFill>
            <a:srgbClr val="FF1A1A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650224" y="4297680"/>
            <a:ext cx="475488" cy="164592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34" name="Shape 32"/>
          <p:cNvSpPr/>
          <p:nvPr/>
        </p:nvSpPr>
        <p:spPr>
          <a:xfrm>
            <a:off x="8650224" y="4297680"/>
            <a:ext cx="475488" cy="1645920"/>
          </a:xfrm>
          <a:prstGeom prst="rect">
            <a:avLst/>
          </a:prstGeom>
          <a:solidFill>
            <a:srgbClr val="FF1A1A">
              <a:alpha val="5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9308592" y="4754880"/>
            <a:ext cx="475488" cy="118872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36" name="Shape 34"/>
          <p:cNvSpPr/>
          <p:nvPr/>
        </p:nvSpPr>
        <p:spPr>
          <a:xfrm>
            <a:off x="9308592" y="4754880"/>
            <a:ext cx="475488" cy="1188720"/>
          </a:xfrm>
          <a:prstGeom prst="rect">
            <a:avLst/>
          </a:prstGeom>
          <a:solidFill>
            <a:srgbClr val="FF1A1A">
              <a:alpha val="4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9966960" y="5120640"/>
            <a:ext cx="475488" cy="82296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38" name="Shape 36"/>
          <p:cNvSpPr/>
          <p:nvPr/>
        </p:nvSpPr>
        <p:spPr>
          <a:xfrm>
            <a:off x="9966960" y="5120640"/>
            <a:ext cx="475488" cy="822960"/>
          </a:xfrm>
          <a:prstGeom prst="rect">
            <a:avLst/>
          </a:prstGeom>
          <a:solidFill>
            <a:srgbClr val="FF1A1A">
              <a:alpha val="3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625328" y="4663440"/>
            <a:ext cx="475488" cy="128016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40" name="Shape 38"/>
          <p:cNvSpPr/>
          <p:nvPr/>
        </p:nvSpPr>
        <p:spPr>
          <a:xfrm>
            <a:off x="10625328" y="4663440"/>
            <a:ext cx="475488" cy="1280160"/>
          </a:xfrm>
          <a:prstGeom prst="rect">
            <a:avLst/>
          </a:prstGeom>
          <a:solidFill>
            <a:srgbClr val="FF1A1A">
              <a:alpha val="25000"/>
            </a:srgbClr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USE CASE 02 — DEEP DIVE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ENTERPRISE AI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ASSISTANT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White-label AI assistant with full data isolation per customer. Connects to ERP,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CRM, document stores. Each enterprise pays per user per month. High gross margin.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64008" cy="50292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657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Full data isolation per tenant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9136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Each enterprise's data stays separated — meets compliance requirements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4343400"/>
            <a:ext cx="64008" cy="50292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343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Branded for your telecom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5994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Your logo, colors, domain — customers see your brand, not ours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5029200"/>
            <a:ext cx="64008" cy="50292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5029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Per-user monthly pricing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52852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Tiered: Basic (docs), Pro (integrations), Enterprise (custom models)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5715000"/>
            <a:ext cx="64008" cy="50292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7150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High gross margin at scale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5971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Inference cost is the only variable — and you own the GPUs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0" y="2560320"/>
            <a:ext cx="5120640" cy="411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2743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ENTERPRISE ASSISTANT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229600" y="3200400"/>
            <a:ext cx="3017520" cy="59436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8339328" y="32278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Summarize Q4 sales and flag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regions underperforming by 15%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75120" y="3977640"/>
            <a:ext cx="4114800" cy="12801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40690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3 regions underperformed: Northern at -23%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(delayed renewals), Western at -18%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(competitor pricing), Coastal at -16%.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Rest outperformed. Draft the executive summary?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686800" y="5440680"/>
            <a:ext cx="2560320" cy="41148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24" name="Text 22"/>
          <p:cNvSpPr/>
          <p:nvPr/>
        </p:nvSpPr>
        <p:spPr>
          <a:xfrm>
            <a:off x="8778240" y="54681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Yes, and compare it to Q3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USE CASE 03 — DEEP DIVE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GPU-AS-A-SERVICE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PLATFORM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Sell raw compute and inference capacity to enterprises, startups, and government.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You own the GPUs, they rent tokens. The AI equivalent of owning cell towers.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64008" cy="50292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657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Own the inference layer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9136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Every AI token consumed in your market generates revenue for you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4343400"/>
            <a:ext cx="64008" cy="50292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343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Local latency advantage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5994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Inference inside the country = lower latency than US/EU routing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5029200"/>
            <a:ext cx="64008" cy="50292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5029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Sovereign compliance built 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52852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Data never leaves the country — critical for gov and finance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5715000"/>
            <a:ext cx="64008" cy="50292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7150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Per GPU-hour pricing, strong margin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5971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Margins improve as utilization scales with the ecosystem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0" y="2560320"/>
            <a:ext cx="5120640" cy="411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2743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GPU CLOUD CONSOLE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418320" y="2743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22C55E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ALL SYSTEMS OPERATIONAL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675120" y="3200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94.2%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675120" y="36118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GPU UTIL.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321040" y="3200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12.4M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321040" y="36118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TOKENS/HR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9966960" y="3200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$xxK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966960" y="36118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MRR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675120" y="4114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GOV MINISTRY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503920" y="4142232"/>
            <a:ext cx="2286000" cy="146304"/>
          </a:xfrm>
          <a:prstGeom prst="rect">
            <a:avLst/>
          </a:prstGeom>
          <a:solidFill>
            <a:srgbClr val="EAECEC"/>
          </a:solidFill>
          <a:ln/>
        </p:spPr>
      </p:sp>
      <p:sp>
        <p:nvSpPr>
          <p:cNvPr id="28" name="Shape 26"/>
          <p:cNvSpPr/>
          <p:nvPr/>
        </p:nvSpPr>
        <p:spPr>
          <a:xfrm>
            <a:off x="8503920" y="4142232"/>
            <a:ext cx="1645920" cy="146304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29" name="Text 27"/>
          <p:cNvSpPr/>
          <p:nvPr/>
        </p:nvSpPr>
        <p:spPr>
          <a:xfrm>
            <a:off x="10972800" y="4114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72%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675120" y="45720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BANK CORP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503920" y="4599432"/>
            <a:ext cx="2286000" cy="146304"/>
          </a:xfrm>
          <a:prstGeom prst="rect">
            <a:avLst/>
          </a:prstGeom>
          <a:solidFill>
            <a:srgbClr val="EAECEC"/>
          </a:solidFill>
          <a:ln/>
        </p:spPr>
      </p:sp>
      <p:sp>
        <p:nvSpPr>
          <p:cNvPr id="32" name="Shape 30"/>
          <p:cNvSpPr/>
          <p:nvPr/>
        </p:nvSpPr>
        <p:spPr>
          <a:xfrm>
            <a:off x="8503920" y="4599432"/>
            <a:ext cx="1325880" cy="146304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33" name="Text 31"/>
          <p:cNvSpPr/>
          <p:nvPr/>
        </p:nvSpPr>
        <p:spPr>
          <a:xfrm>
            <a:off x="10972800" y="45720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58%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75120" y="5029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LOGISTICS CO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503920" y="5056632"/>
            <a:ext cx="2286000" cy="146304"/>
          </a:xfrm>
          <a:prstGeom prst="rect">
            <a:avLst/>
          </a:prstGeom>
          <a:solidFill>
            <a:srgbClr val="EAECEC"/>
          </a:solidFill>
          <a:ln/>
        </p:spPr>
      </p:sp>
      <p:sp>
        <p:nvSpPr>
          <p:cNvPr id="36" name="Shape 34"/>
          <p:cNvSpPr/>
          <p:nvPr/>
        </p:nvSpPr>
        <p:spPr>
          <a:xfrm>
            <a:off x="8503920" y="5056632"/>
            <a:ext cx="1028700" cy="146304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37" name="Text 35"/>
          <p:cNvSpPr/>
          <p:nvPr/>
        </p:nvSpPr>
        <p:spPr>
          <a:xfrm>
            <a:off x="10972800" y="50292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45%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675120" y="5486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INSURANCE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503920" y="5513832"/>
            <a:ext cx="2286000" cy="146304"/>
          </a:xfrm>
          <a:prstGeom prst="rect">
            <a:avLst/>
          </a:prstGeom>
          <a:solidFill>
            <a:srgbClr val="EAECEC"/>
          </a:solidFill>
          <a:ln/>
        </p:spPr>
      </p:sp>
      <p:sp>
        <p:nvSpPr>
          <p:cNvPr id="40" name="Shape 38"/>
          <p:cNvSpPr/>
          <p:nvPr/>
        </p:nvSpPr>
        <p:spPr>
          <a:xfrm>
            <a:off x="8503920" y="5513832"/>
            <a:ext cx="868680" cy="146304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41" name="Text 39"/>
          <p:cNvSpPr/>
          <p:nvPr/>
        </p:nvSpPr>
        <p:spPr>
          <a:xfrm>
            <a:off x="10972800" y="54864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38%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675120" y="59436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HEALTH SYS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503920" y="5971032"/>
            <a:ext cx="2286000" cy="146304"/>
          </a:xfrm>
          <a:prstGeom prst="rect">
            <a:avLst/>
          </a:prstGeom>
          <a:solidFill>
            <a:srgbClr val="EAECEC"/>
          </a:solidFill>
          <a:ln/>
        </p:spPr>
      </p:sp>
      <p:sp>
        <p:nvSpPr>
          <p:cNvPr id="44" name="Shape 42"/>
          <p:cNvSpPr/>
          <p:nvPr/>
        </p:nvSpPr>
        <p:spPr>
          <a:xfrm>
            <a:off x="8503920" y="5971032"/>
            <a:ext cx="731520" cy="146304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45" name="Text 43"/>
          <p:cNvSpPr/>
          <p:nvPr/>
        </p:nvSpPr>
        <p:spPr>
          <a:xfrm>
            <a:off x="10972800" y="5943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32%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14400"/>
            <a:ext cx="10058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05</a:t>
            </a:r>
            <a:endParaRPr lang="en-US" sz="6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B2B OFFERING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Enterprise AI products, pricing, and margin structure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B2B PRICING &amp; MARGINS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YOUR MARGIN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STRUCTURE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560320"/>
            <a:ext cx="3566160" cy="4114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743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AI ASSISTANT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BASIC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3337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$xx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60120" y="38862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PER USER / MONTH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60120" y="42976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•  Document analysis &amp; summarization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45902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•  Email drafting &amp; templates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48828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•  Basic data querying (CSV/Excel)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51755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•  AI tokens / user / day — TBD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6263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~xx% GROSS MARGIN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89120" y="2560320"/>
            <a:ext cx="3566160" cy="4114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Shape 12"/>
          <p:cNvSpPr/>
          <p:nvPr/>
        </p:nvSpPr>
        <p:spPr>
          <a:xfrm>
            <a:off x="4389120" y="2560320"/>
            <a:ext cx="3566160" cy="54864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2743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AI ASSISTANT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PRO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3337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$xx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709160" y="38862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PER USER / MONTH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09160" y="42976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•  Everything in Basic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45902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•  CRM and ERP integrations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9160" y="48828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•  Meeting summarization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51755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•  Custom knowledge bases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54681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•  AI tokens / user / day — TBD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6263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~xx% GROSS MARGIN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138160" y="2560320"/>
            <a:ext cx="3566160" cy="4114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Text 23"/>
          <p:cNvSpPr/>
          <p:nvPr/>
        </p:nvSpPr>
        <p:spPr>
          <a:xfrm>
            <a:off x="8458200" y="2743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GPU-AS-A-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SERVICE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458200" y="3337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$xx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8458200" y="38862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PER GPU-HOUR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58200" y="42976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•  NVIDIA A100/H100 equivalent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58200" y="45902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•  API for custom model inference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58200" y="48828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•  Fine-tuning capability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458200" y="51755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•  99.9% SLA uptime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458200" y="54681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•  Data sovereignty guaranteed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58200" y="6263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~xx% GROSS MARGIN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B2B REVENUE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ILLUSTRATIVE ENTERPRISE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REVENUE BUILD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560320"/>
            <a:ext cx="10911535" cy="384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Enterprise AI Assistant — xx users @ $xx/mo avg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$xxK / month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3182112"/>
            <a:ext cx="10362895" cy="4572"/>
          </a:xfrm>
          <a:prstGeom prst="rect">
            <a:avLst/>
          </a:prstGeom>
          <a:solidFill>
            <a:srgbClr val="EAECE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246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AI Contact Center — xx enterprise clients @ $xxK/mo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$xxK / month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685032"/>
            <a:ext cx="10362895" cy="4572"/>
          </a:xfrm>
          <a:prstGeom prst="rect">
            <a:avLst/>
          </a:prstGeom>
          <a:solidFill>
            <a:srgbClr val="EAECE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749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GPU-as-a-Service — xx GPU-hrs/day @ $xx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$xxK / month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4187952"/>
            <a:ext cx="10362895" cy="4572"/>
          </a:xfrm>
          <a:prstGeom prst="rect">
            <a:avLst/>
          </a:prstGeom>
          <a:solidFill>
            <a:srgbClr val="EAECE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251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SMB AI Bundle — xx SMBs @ $xx/mo add-on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0" y="4251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$xxK / month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4690872"/>
            <a:ext cx="10362895" cy="4572"/>
          </a:xfrm>
          <a:prstGeom prst="rect">
            <a:avLst/>
          </a:prstGeom>
          <a:solidFill>
            <a:srgbClr val="EAECEC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754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Government AI contract (annual, amortized)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0" y="4754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$xxK / month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5394960"/>
            <a:ext cx="10362895" cy="914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486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TOTAL MONTHLY B2B REVENUE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0" y="5394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$xxK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144000" y="5852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$xxM ANNUALIZED  ·  YEAR 1 TARGET  ·  SINGLE MARKET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14400"/>
            <a:ext cx="10058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06</a:t>
            </a:r>
            <a:endParaRPr lang="en-US" sz="6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MARKET EVIDENCE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Operators already making the transition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OPERATORS LEADING THE TRANSITION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WHO IS ALREADY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DOING THIS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560320"/>
            <a:ext cx="10911535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560320"/>
            <a:ext cx="64008" cy="114300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651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SAFARICOM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0" y="26517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Kenya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$500M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926080" y="2926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AI infrastructure investment. 22.5MW data center. Zuri chatbot for 30M+ users. 5,000 employees trained.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10911535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886200"/>
            <a:ext cx="64008" cy="114300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977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INDOSAT OOREDOO HUTCHISON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0" y="3977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Indonesia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6012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270M pop.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926080" y="42519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CEO: '70% people, 20% process, 10% tech.' McKinsey agentic AI partnership. Perplexity AI search integration.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5212080"/>
            <a:ext cx="10911535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5212080"/>
            <a:ext cx="64008" cy="114300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5303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NVIDIA × T-MOBILE × NOKIA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0" y="53035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Global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60120" y="5577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$100B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926080" y="55778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Building AI-native 6G radio networks. Aerial RAN computer. 'Accelerated computing infused with AI.'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Sources: TechInAfrica (Feb 2026), McKinsey IOH case study (Nov 2025), NVIDIA GTC 2025 keynote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MORE EXAMPLES ACROSS MARKETS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THE TRANSITION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IS GLOBAL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560320"/>
            <a:ext cx="10911535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560320"/>
            <a:ext cx="64008" cy="114300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651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OOREDOO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0" y="26517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MENA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GPT-4o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926080" y="2926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Launched 'Obot' GPT-4o chatbot across multiple Middle East markets. Foundation model embedded into existing touchpoints.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10911535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886200"/>
            <a:ext cx="64008" cy="114300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977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E&amp; (ETISALAT)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0" y="3977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UAE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6012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$100B+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926080" y="42519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AI-powered drones for tower inspection. Part of Gulf push: $100B+ committed in AI/DC infrastructure.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5212080"/>
            <a:ext cx="10911535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5212080"/>
            <a:ext cx="64008" cy="114300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5303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HUAWEI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0" y="53035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China → Global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60120" y="5577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862B CNY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926080" y="55778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Evolved from telecom equipment to full-stack AI: Ascend chips, CloudMatrix, Pangu models, Huawei Cloud. Revenue up 22%.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Sources: GSMA AI Report (Aug 2025), Global DC Hub (Jan 2026), CNBC Huawei analysis (Jul 2025)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14400"/>
            <a:ext cx="10058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07</a:t>
            </a:r>
            <a:endParaRPr lang="en-US" sz="6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B2C PLATFORM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Be the AI app store — not the app builder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THE LESSON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TELECOMS ARE NOT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PRODUCT COMPANIES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Every time a telco tried to build consumer products in-house, it lost to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third parties who moved faster, iterated more, and understood users better.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474720"/>
            <a:ext cx="3520440" cy="2926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611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>
                    <a:alpha val="12000"/>
                  </a:srgbClr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CARRIER APP STORES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LOST TO PLAY &amp; APPLE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7091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Vodafone, Orange — all dead.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Developers chose platforms with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largest reach.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3474720"/>
            <a:ext cx="3520440" cy="2926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3611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>
                    <a:alpha val="12000"/>
                  </a:srgbClr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17720" y="39319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CARRIER MUSIC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17720" y="4206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LOST TO SPOTIFY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17720" y="47091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Couldn't match content investment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or UX iteration speed.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3474720"/>
            <a:ext cx="3520440" cy="2926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3611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>
                    <a:alpha val="12000"/>
                  </a:srgbClr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321040" y="39319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CARRIER MESSAGING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321040" y="4206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LOST TO WHATSAPP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47091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RCS arrived 10 years too late.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WhatsApp shipped fast with no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committee approval.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10332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BUT M-PESA WON.</a:t>
            </a:r>
            <a:endParaRPr lang="en-US" sz="5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WHY?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1828800" y="2834640"/>
            <a:ext cx="8503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Because Safaricom didn't build every financial product.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It built the platform — the rails, the agent network, the billing layer —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and let 100,000+ developers build on top via Daraja API.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4389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60,000+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4892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INTEGRATIONS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0" y="4389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$500B+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0" y="4892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ANNUAL TXN VOLUME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0" y="4389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44%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0" y="4892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OF SERVICE REVENUE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144000" y="4389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100K+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144000" y="4892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DEVELOPERS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40080" y="6035040"/>
            <a:ext cx="10911535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6126480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ango Text Medium" pitchFamily="34" charset="0"/>
                <a:ea typeface="Yango Text Medium" pitchFamily="34" charset="-122"/>
                <a:cs typeface="Yango Text Medium" pitchFamily="34" charset="-120"/>
              </a:rPr>
              <a:t>KEY TAKEAWAY:  Build the infrastructure, provide the distribution, take the platform fee. Now apply it to AI.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THE PLATFORM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YOU PROVIDE THE RAILS.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DEVELOPERS BUILD.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Carrier billing + mobile money, distribution to 100M+ SIM cards, local AI inference.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Developers plug in. You take 20–30% of every transaction.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566160"/>
            <a:ext cx="10911535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3566160"/>
            <a:ext cx="64008" cy="86868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657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DEVELOPERS BUILD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395020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AI tutors · Health triage · Bookkeeping · Legal · Agri-advisory · Translation · Job matching · Insurance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4617720"/>
            <a:ext cx="10911535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4617720"/>
            <a:ext cx="64008" cy="86868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709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YOU PROVIDE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60120" y="500176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Carrier billing · Mobile money · SIM distribution · USSD/STK · AI token metering · Dev portal · Revenue share API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669280"/>
            <a:ext cx="10911535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5669280"/>
            <a:ext cx="64008" cy="86868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760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YOU OWN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60120" y="605332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Local inference GPUs · Edge compute · Data sovereignty · Network backbone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THE CHOICE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BUILD APPS OR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BUILD THE PLATFORM?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5212080" cy="3749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743200"/>
            <a:ext cx="5212080" cy="3749040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880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LOSING STRATEGY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" y="3154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TELCO BUILDS APPS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794760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Requires product teams, UX, ML engineers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Slow iteration — 6-month release cycles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Must understand every vertical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Linear revenue — scales with headcount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Competes with thousands of startups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History: lost to WhatsApp, Spotify, Play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2743200"/>
            <a:ext cx="5212080" cy="3749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743200"/>
            <a:ext cx="521208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2880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WINNING STRATEGY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766560" y="3154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TELCO RUNS PLATFORM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66560" y="3794760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Provides billing, distribution, inference APIs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Developers iterate daily on your platform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Ecosystem covers every vertical automatically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Network effects — more devs → more users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20–30% take rate on every transaction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History: M-Pesa, App Store, Shopify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DEVELOPER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ONE SDK.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INSTANT DISTRIBUTION.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Developers register, get API keys, start building in hours. Local inference,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carrier billing, USSD gateway, push notifications — all through one integration.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566160"/>
            <a:ext cx="64008" cy="50292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5661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One SDK for everything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8221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Inference + billing + auth + USSD + push — single integration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4251960"/>
            <a:ext cx="64008" cy="50292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251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Automatic 70/30 revenue share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5079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Developer 70%, telecom 30% — settled daily to mobile money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4937760"/>
            <a:ext cx="64008" cy="50292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9377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Local inference included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51937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No GPU budget needed — your infrastructure provides compute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5623560"/>
            <a:ext cx="64008" cy="50292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6235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Built-in distribution to 100M+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58795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Featured in mini-app store, push to subscriber base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0" y="2560320"/>
            <a:ext cx="5120640" cy="4114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2743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developers.telecom.co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75120" y="320040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Initialize telecom AI SDK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ai = new TelecomAI({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apiKey: 'sk_live_...',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model: 'llama-3-70b-local',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billing: 'carrier'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response = await ai.chat({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user: 'msisdn:+254...',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message: prompt,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lang: 'sw'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Billing happens automatically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Developer gets 70% of token fee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CONSUMER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AI MINI-APP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MARKETPLACE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Inside your telecom app, consumers discover AI mini-apps by third-party developers.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No download, no credit card — pay with airtime, mobile money, or bundled tokens.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566160"/>
            <a:ext cx="3520440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840480"/>
            <a:ext cx="502920" cy="502920"/>
          </a:xfrm>
          <a:prstGeom prst="rect">
            <a:avLst/>
          </a:prstGeom>
          <a:solidFill>
            <a:srgbClr val="FF1A1A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3749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Mwalimu AI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00200" y="4023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by EduKenya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00200" y="4297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Education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343400" y="3566160"/>
            <a:ext cx="3520440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617720" y="3840480"/>
            <a:ext cx="502920" cy="502920"/>
          </a:xfrm>
          <a:prstGeom prst="rect">
            <a:avLst/>
          </a:prstGeom>
          <a:solidFill>
            <a:srgbClr val="FF1A1A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0" y="3749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Daktari 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4023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by HealthBridge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0" y="4297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Health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046720" y="3566160"/>
            <a:ext cx="3520440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321040" y="3840480"/>
            <a:ext cx="502920" cy="502920"/>
          </a:xfrm>
          <a:prstGeom prst="rect">
            <a:avLst/>
          </a:prstGeom>
          <a:solidFill>
            <a:srgbClr val="FF1A1A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006840" y="3749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DukaBooks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06840" y="4023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by FinLab Africa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006840" y="4297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Finance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40080" y="5029200"/>
            <a:ext cx="3520440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5303520"/>
            <a:ext cx="502920" cy="502920"/>
          </a:xfrm>
          <a:prstGeom prst="rect">
            <a:avLst/>
          </a:prstGeom>
          <a:solidFill>
            <a:srgbClr val="FF1A1A">
              <a:alpha val="1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600200" y="5212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Shamba AI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00200" y="5486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by AgriTech Co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00200" y="57607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Agriculture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343400" y="5029200"/>
            <a:ext cx="3520440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617720" y="5303520"/>
            <a:ext cx="502920" cy="502920"/>
          </a:xfrm>
          <a:prstGeom prst="rect">
            <a:avLst/>
          </a:prstGeom>
          <a:solidFill>
            <a:srgbClr val="FF1A1A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5212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TafsiriAI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0" y="5486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by LangTech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03520" y="57607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Translation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046720" y="5029200"/>
            <a:ext cx="3520440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8321040" y="5303520"/>
            <a:ext cx="502920" cy="502920"/>
          </a:xfrm>
          <a:prstGeom prst="rect">
            <a:avLst/>
          </a:prstGeom>
          <a:solidFill>
            <a:srgbClr val="FF1A1A">
              <a:alpha val="1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9006840" y="5212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Kazi Match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006840" y="5486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by JobsNG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006840" y="57607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Employment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NETWORK EFFECTS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THE PLATFORM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FLYWHEEL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Building apps gives linear growth. A platform gives compounding network effects —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the same loop that made M-Pesa, App Store, and Shopify dominant.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32918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Launch AI developer platform with local inference + carrier billing API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80160" y="3822192"/>
            <a:ext cx="10058400" cy="457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9776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39776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Developers build AI mini-apps for local markets (tutors, health, agri, finance)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80160" y="4507992"/>
            <a:ext cx="10058400" cy="457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663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80160" y="46634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Consumers discover + pay via airtime, mobile money, or bundled AI tokens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280160" y="5193792"/>
            <a:ext cx="10058400" cy="457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3492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80160" y="53492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More users attract more developers. More developers attract more users.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280160" y="5879592"/>
            <a:ext cx="10058400" cy="457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6035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80160" y="60350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All inference through your GPUs. All billing through your ledger. 20–30% take rate.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14400"/>
            <a:ext cx="10058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08</a:t>
            </a:r>
            <a:endParaRPr lang="en-US" sz="6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PLATFORM</a:t>
            </a:r>
            <a:endParaRPr lang="en-US" sz="6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ECONOMICS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Unit economics and revenue model for the B2C platform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UNIT ECONOMICS — 10M ACTIVE AI USERS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PLATFORM REVENUE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MODEL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356616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xx–xx%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PLATFORM TAKE RATE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89120" y="2468880"/>
            <a:ext cx="356616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$0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663440" y="3108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PRODUCT DEV COST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138160" y="2468880"/>
            <a:ext cx="356616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0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2×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412480" y="3108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REVENUE COMPOUNDING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10911535" cy="2743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23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Monthly active AI users (% of subscribers)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0" y="4023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xxM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4370832"/>
            <a:ext cx="10362895" cy="4572"/>
          </a:xfrm>
          <a:prstGeom prst="rect">
            <a:avLst/>
          </a:prstGeom>
          <a:solidFill>
            <a:srgbClr val="EAECEC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4074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Average spend per user per month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0" y="4407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$xx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4754880"/>
            <a:ext cx="10362895" cy="4572"/>
          </a:xfrm>
          <a:prstGeom prst="rect">
            <a:avLst/>
          </a:prstGeom>
          <a:solidFill>
            <a:srgbClr val="EAECEC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79145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Gross monthly transaction volume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0" y="47914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$xxM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5138928"/>
            <a:ext cx="10362895" cy="4572"/>
          </a:xfrm>
          <a:prstGeom prst="rect">
            <a:avLst/>
          </a:prstGeom>
          <a:solidFill>
            <a:srgbClr val="EAECEC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17550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Platform take (xx%)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0" y="51755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$xxM / month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" y="5522976"/>
            <a:ext cx="10362895" cy="4572"/>
          </a:xfrm>
          <a:prstGeom prst="rect">
            <a:avLst/>
          </a:prstGeom>
          <a:solidFill>
            <a:srgbClr val="EAECEC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5595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Inference margin (tokens through your GPUs)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0" y="55595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$xxM / month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" y="5989320"/>
            <a:ext cx="10362895" cy="914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6035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COMBINED MONTHLY REVENUE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0" y="5943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FF1A1A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$xxM</a:t>
            </a:r>
            <a:endParaRPr lang="en-US" sz="2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14400"/>
            <a:ext cx="10058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09</a:t>
            </a:r>
            <a:endParaRPr lang="en-US" sz="6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EVIDENCE BASE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Research from McKinsey, BCG, Deloitte, NVIDIA, and GSMA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KEY DATA POINTS BACKING THE THESIS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THE NUMBERS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06040" cy="20116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60–70%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834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AI workloads as real-time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inference by 2030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36118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McKinsey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429000" y="2103120"/>
            <a:ext cx="2606040" cy="20116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$700B+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0" y="2834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Hyperscaler AI capex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budget 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0" y="36118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Fortune / NVIDIA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217920" y="2103120"/>
            <a:ext cx="2606040" cy="20116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75–80%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46520" y="2834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Telco AI deployments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= cost cuts only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46520" y="36118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GSMA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006840" y="2103120"/>
            <a:ext cx="2606040" cy="20116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923544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$100B+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235440" y="2834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Gulf + Africa AI/DC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commitments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235440" y="36118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Global DC Hub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40080" y="4389120"/>
            <a:ext cx="2606040" cy="20116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572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1.5–2.2 GW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68680" y="5120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Africa DC capacity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projected by 2030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" y="58978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McKinsey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429000" y="4389120"/>
            <a:ext cx="2606040" cy="20116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0" y="4572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$9.4B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657600" y="5120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Indonesia DC market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by 2030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0" y="58978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Next Move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217920" y="4389120"/>
            <a:ext cx="2606040" cy="20116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4572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$150B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446520" y="5120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AI venture investment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2025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46520" y="58978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NVIDIA GTC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006840" y="4389120"/>
            <a:ext cx="2606040" cy="20116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3" name="Text 31"/>
          <p:cNvSpPr/>
          <p:nvPr/>
        </p:nvSpPr>
        <p:spPr>
          <a:xfrm>
            <a:off x="9235440" y="4572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1M×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9235440" y="5120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Computing demand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increase (recent years)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235440" y="58978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Jensen Huang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SOURCES — STRATEGY CONSULTING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RESEARCH BACKING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THE THESIS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10911535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468880"/>
            <a:ext cx="64008" cy="91440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5603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McKinsey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0" y="25603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Feb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27889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Telcos' AI Inflection Point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30358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CxO survey of 49 operators. Revenue 1% vs traffic 60%. Agentic AI as paradigm shift.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10911535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520440"/>
            <a:ext cx="64008" cy="91440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6118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BCG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0" y="36118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Feb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60120" y="384048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The AI-First Telecom Strategy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408736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Move beyond cost-cutting. 10-20-70: 10% algorithms, 20% data, 70% organizational change.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10911535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4572000"/>
            <a:ext cx="64008" cy="91440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6634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Deloitte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0" y="46634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Jun 2025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60120" y="489204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Agentic AI Blueprint — $150B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513892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Scale AI across network mgmt, service delivery, customer care. Split inference for privacy.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5623560"/>
            <a:ext cx="10911535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5623560"/>
            <a:ext cx="64008" cy="91440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57150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GSMA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0" y="57150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Aug 2025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60120" y="59436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AI Deployments Report (250 ops)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619048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75-80% AI for cost cuts. GPU-as-a-Service and agentic AI as emerging revenue-generating use cases.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SOURCES — NVIDIA &amp; MARKET INTELLIGENCE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INDUSTRY DATA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544068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468880"/>
            <a:ext cx="64008" cy="118872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6060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NVIDIA GTC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0120" y="29260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$100B radio capex → AI-native 6G. T-Mobile/Nokia. Aerial RAN computer.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2468880"/>
            <a:ext cx="544068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263640" y="2468880"/>
            <a:ext cx="64008" cy="118872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6060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NVIDIA GTC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0" y="29260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$1T revenue 2025–2027. Computing demand up 1M×. Telecom as key vertical.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544068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840480"/>
            <a:ext cx="64008" cy="118872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9776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Fortune, Feb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0120" y="4297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Hyperscalers budgeting $700B AI capex. Meta $135B. Google $185B.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3840480"/>
            <a:ext cx="544068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3840480"/>
            <a:ext cx="64008" cy="118872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39776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NVIDIA Computex '25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83680" y="4297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'AI is infrastructure. Data centers are factories that produce tokens.'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212080"/>
            <a:ext cx="544068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5212080"/>
            <a:ext cx="64008" cy="118872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53492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Global DC Hub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60120" y="56692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$100B+ Gulf + Africa AI/DC. Telecom-led platforms gaining structural advantage.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5212080"/>
            <a:ext cx="544068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3640" y="5212080"/>
            <a:ext cx="64008" cy="118872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53492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US ITA / Next Move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83680" y="56692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Indonesia telecom: $13.4B. DC market: $9.4B by 2030 at 19.6% CAGR.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182880"/>
            <a:ext cx="6675120" cy="5943600"/>
          </a:xfrm>
          <a:prstGeom prst="ellipse">
            <a:avLst/>
          </a:prstGeom>
          <a:solidFill>
            <a:srgbClr val="FF1A1A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457200"/>
            <a:ext cx="99669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TELECOMS WILL</a:t>
            </a:r>
            <a:endParaRPr lang="en-US" sz="42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EITHER BECOME</a:t>
            </a:r>
            <a:endParaRPr lang="en-US" sz="42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AI DISTRIBUTORS —</a:t>
            </a:r>
            <a:endParaRPr lang="en-US" sz="42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OR BE</a:t>
            </a:r>
            <a:endParaRPr lang="en-US" sz="42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DISINTERMEDIATED.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828800" y="521208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The window is now. The infrastructure thesis is proven.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The question is whether you act before your competitors do.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LAUNCH YOUR AI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OFFERING IN 90 DAYS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560320"/>
            <a:ext cx="3566160" cy="3657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743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PILOT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32918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Deploy one AI use case in your market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within 90 days. Prove the economics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before committing infrastructure.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60120" y="5303520"/>
            <a:ext cx="2560320" cy="45720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5303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Yango Text Medium" pitchFamily="34" charset="0"/>
                <a:ea typeface="Yango Text Medium" pitchFamily="34" charset="-122"/>
                <a:cs typeface="Yango Text Medium" pitchFamily="34" charset="-120"/>
              </a:rPr>
              <a:t>START A PILOT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2560320"/>
            <a:ext cx="3566160" cy="3657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2743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STRATEGY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09160" y="32918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Build your AI inference strategy with our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team. Market assessment, use case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prioritization, infrastructure roadmap.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5303520"/>
            <a:ext cx="2560320" cy="45720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5303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Yango Text Medium" pitchFamily="34" charset="0"/>
                <a:ea typeface="Yango Text Medium" pitchFamily="34" charset="-122"/>
                <a:cs typeface="Yango Text Medium" pitchFamily="34" charset="-120"/>
              </a:rPr>
              <a:t>BOOK A SESSION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2560320"/>
            <a:ext cx="3566160" cy="3657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2743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PARTNERSHIP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58200" y="32918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Full-stack partnership: use cases,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platform, and infrastructure —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co-built for your market.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458200" y="5303520"/>
            <a:ext cx="2560320" cy="457200"/>
          </a:xfrm>
          <a:prstGeom prst="rect">
            <a:avLst/>
          </a:prstGeom>
          <a:solidFill>
            <a:srgbClr val="FF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8458200" y="5303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Yango Text Medium" pitchFamily="34" charset="0"/>
                <a:ea typeface="Yango Text Medium" pitchFamily="34" charset="-122"/>
                <a:cs typeface="Yango Text Medium" pitchFamily="34" charset="-120"/>
              </a:rPr>
              <a:t>PARTNER WITH US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yang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2286000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8288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FFFFFF"/>
                </a:solidFill>
                <a:latin typeface="Yango Headline Black" pitchFamily="34" charset="0"/>
                <a:ea typeface="Yango Headline Black" pitchFamily="34" charset="-122"/>
                <a:cs typeface="Yango Headline Black" pitchFamily="34" charset="-120"/>
              </a:rPr>
              <a:t>LET'S TALK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640080" y="3474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Yango Text Bold" pitchFamily="34" charset="0"/>
                <a:ea typeface="Yango Text Bold" pitchFamily="34" charset="-122"/>
                <a:cs typeface="Yango Text Bold" pitchFamily="34" charset="-120"/>
              </a:rPr>
              <a:t>Evgeny Chernikov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4008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COO, Yango Tech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4572000"/>
            <a:ext cx="4572000" cy="4572"/>
          </a:xfrm>
          <a:prstGeom prst="rect">
            <a:avLst/>
          </a:prstGeom>
          <a:solidFill>
            <a:srgbClr val="EAECEC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1A1A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eechernikov@yango.com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5212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tech.yango.com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5669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ango Text" pitchFamily="34" charset="0"/>
                <a:ea typeface="Yango Text" pitchFamily="34" charset="-122"/>
                <a:cs typeface="Yango Text" pitchFamily="34" charset="-120"/>
              </a:rPr>
              <a:t>telecom-ai.chernikov.tech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Telecom × AI — From Connectivity to AI Distribution</dc:title>
  <dc:subject>PptxGenJS Presentation</dc:subject>
  <dc:creator>Evgeny Chernikov</dc:creator>
  <cp:lastModifiedBy>Evgeny Chernikov</cp:lastModifiedBy>
  <cp:revision>1</cp:revision>
  <dcterms:created xsi:type="dcterms:W3CDTF">2026-04-03T03:05:00Z</dcterms:created>
  <dcterms:modified xsi:type="dcterms:W3CDTF">2026-04-03T03:05:00Z</dcterms:modified>
</cp:coreProperties>
</file>